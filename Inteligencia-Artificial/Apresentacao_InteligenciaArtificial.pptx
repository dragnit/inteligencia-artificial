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s/slide20.xml" ContentType="application/vnd.openxmlformats-officedocument.presentationml.slide+xml"/>
  <Override PartName="/ppt/slides/slide47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s/slide8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8" d="100"/>
          <a:sy n="68" d="100"/>
        </p:scale>
        <p:origin x="816" y="6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 /><Relationship Id="rId53" Type="http://schemas.openxmlformats.org/officeDocument/2006/relationships/tableStyles" Target="tableStyles.xml" /><Relationship Id="rId5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93473" name="Marcador de Posição do Cabeçalh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7817961" name="Marcador de Posição da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8B8F6E3-21C6-4E85-88AF-9D9422EB3B71}" type="datetimeFigureOut">
              <a:rPr lang="pt-PT"/>
              <a:t>13/10/2024</a:t>
            </a:fld>
            <a:endParaRPr lang="pt-PT"/>
          </a:p>
        </p:txBody>
      </p:sp>
      <p:sp>
        <p:nvSpPr>
          <p:cNvPr id="1977145714" name="Marcador de Posição da Imagem do Diapositivo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pt-PT"/>
          </a:p>
        </p:txBody>
      </p:sp>
      <p:sp>
        <p:nvSpPr>
          <p:cNvPr id="1253699447" name="Marcador de Posição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pt-PT"/>
              <a:t>Clique para editar os estilos do texto de Modelo Global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/>
          </a:p>
        </p:txBody>
      </p:sp>
      <p:sp>
        <p:nvSpPr>
          <p:cNvPr id="336909659" name="Marcador de Posição do Rodapé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892666313" name="Marcador de Posição do Número do Diapositivo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BFE7258-DAB2-4532-95CC-0EF00DDA9946}" type="slidenum">
              <a:rPr lang="pt-PT"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735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6583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14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26B814-3520-4205-519E-FCF8B5AB93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130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8069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1692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DA52C5-FB63-E3AE-089E-509B9DADF1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1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29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720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43331-230D-8ACB-C9FA-29224A9441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88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5445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95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CDB9AE-61D1-1BED-AADA-88116E9FAC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0121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039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924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02F1C-8BA8-8EFC-702B-7A89FBEC28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87D79E-B77C-360F-51AD-4078061C4D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0F9BB3-AA38-330C-FCE8-62C20FE1E7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3D925-E7F2-784C-F4BF-56E604093D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F83659-CF3B-4828-69D4-687BE7D69B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32580C-797A-D4D3-1E06-A4C7022FA7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0CCB53-EB73-B5DB-EAA3-D0C133BB6C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2C9BC0-346A-CF58-507E-75E44C9324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B1FEEA-9988-F395-4F65-6DAC17C972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348737-81B8-A84C-D536-EF93077C73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55D7AD-A7E0-B376-DD8E-4BF629B62F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723B30-E2F3-09A7-7E55-2C0AFA1F71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398E6-C62C-70D7-FE5F-6867F43FFD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72625E-2D49-4082-7767-8EF6A52FAC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75A7B9-1A0A-1B23-F987-9B6212960E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F258E0-4C81-4575-4154-FE7ADEF4B5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EDBDD4-41CE-31D9-45CD-C403DD891F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85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3305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27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7C91F3-5242-3092-0E4F-166E048A84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7136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9401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27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F48899-2FCF-0F28-7440-3B3F4EF7A9F5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9799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249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6479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822E0-ED77-9B41-B045-555EC6A4E932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6494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8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844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E13483-AE8C-F376-B805-0F0BEA99D0CA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991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779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265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085C66-2BAE-853A-24A0-F08E2D6C9FA6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062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768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82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E01F5-E2E9-6534-A89B-C2D7CD2D05CA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269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1556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492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A5EAC7-DBBB-7A90-C1D8-70B17BC260AF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467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8130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408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F0448B-D1B9-BFF4-1F02-A921346DD71B}" type="slidenum">
              <a:rPr/>
              <a:t>31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06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45383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44169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FE1A1E-7BE1-3B44-9652-FA0E88A07E67}" type="slidenum">
              <a:rPr/>
              <a:t>32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275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8253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296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030693-9CB3-21A0-1961-AE2E5204A1D5}" type="slidenum">
              <a:rPr/>
              <a:t>33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316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9765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458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33CA79-3F5B-C19E-A342-9CC364A5D9E7}" type="slidenum">
              <a:rPr/>
              <a:t>34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593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0698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8137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DEF4FA-3E92-F7A8-DB4B-78C8E5A38F86}" type="slidenum">
              <a:rPr/>
              <a:t>35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982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333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3362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C8DD8C-DA91-4627-19E6-E84929308951}" type="slidenum">
              <a:rPr/>
              <a:t>36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31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83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626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0EC1EC-9A42-2046-0EAC-B15A3D26C502}" type="slidenum">
              <a:rPr/>
              <a:t>37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4448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2609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98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C3E52B-9793-E13D-3892-C75FAA01C6CC}" type="slidenum">
              <a:rPr/>
              <a:t>38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694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7196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95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CC5F3F-196B-2421-14C4-F09F3976F0E3}" type="slidenum">
              <a:rPr/>
              <a:t>39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6568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263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360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424920-2EE2-3348-59F6-8549E502C632}" type="slidenum">
              <a:rPr/>
              <a:t>40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179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202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21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B7EDC3-4AAB-089E-088B-23AB07571EEF}" type="slidenum">
              <a:rPr/>
              <a:t>41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0768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16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135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63720D-AF4F-D21F-4FC2-2CCB36C652B9}" type="slidenum">
              <a:rPr/>
              <a:t>42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809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2693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0795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BE922E-2603-2037-4B00-2DEBA34B8C6A}" type="slidenum">
              <a:rPr/>
              <a:t>43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722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511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160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58B463-2EAC-C329-B57E-56FDDA6C7928}" type="slidenum">
              <a:rPr/>
              <a:t>44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805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64141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46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D4734A-2C29-FF9E-96BB-C4CF002FC9F1}" type="slidenum">
              <a:rPr/>
              <a:t>45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910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01189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8134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812C91-CF99-9CA0-F4D5-F08F4445F79F}" type="slidenum">
              <a:rPr/>
              <a:t>46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966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9942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505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B6AEE6-234E-53B8-D018-BC1559AB0236}" type="slidenum">
              <a:rPr/>
              <a:t>47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808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2458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125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9CCB28-6DDF-46B4-C9C8-A4D8C3E76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997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5892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01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195ED0-9016-E44D-833F-3B0294707D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03825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457325"/>
            <a:ext cx="9144000" cy="1479839"/>
          </a:xfrm>
        </p:spPr>
        <p:txBody>
          <a:bodyPr anchor="ctr" anchorCtr="0">
            <a:normAutofit/>
          </a:bodyPr>
          <a:lstStyle>
            <a:lvl1pPr algn="ctr">
              <a:defRPr sz="4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9223775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08426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16682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574D88-E026-4204-A47A-D7DF20E4089F}" type="datetimeFigureOut">
              <a:rPr lang="en-GB"/>
              <a:t>12/10/2024</a:t>
            </a:fld>
            <a:endParaRPr lang="en-GB"/>
          </a:p>
        </p:txBody>
      </p:sp>
      <p:sp>
        <p:nvSpPr>
          <p:cNvPr id="5532435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274522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D057BC-561F-4B69-9D1A-BF6442AC3FFC}" type="slidenum">
              <a:rPr lang="en-GB"/>
              <a:t>‹nº›</a:t>
            </a:fld>
            <a:endParaRPr lang="en-GB"/>
          </a:p>
        </p:txBody>
      </p:sp>
      <p:pic>
        <p:nvPicPr>
          <p:cNvPr id="1800792773" name="Picture 7" descr="A close up of a sign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92722" y="243179"/>
            <a:ext cx="1174141" cy="1089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795259" name="Title 1"/>
          <p:cNvSpPr>
            <a:spLocks noGrp="1"/>
          </p:cNvSpPr>
          <p:nvPr>
            <p:ph type="title"/>
          </p:nvPr>
        </p:nvSpPr>
        <p:spPr bwMode="auto">
          <a:xfrm>
            <a:off x="1837678" y="240834"/>
            <a:ext cx="9987612" cy="1089854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17398442" name="Content Placeholder 2"/>
          <p:cNvSpPr>
            <a:spLocks noGrp="1"/>
          </p:cNvSpPr>
          <p:nvPr>
            <p:ph idx="1"/>
          </p:nvPr>
        </p:nvSpPr>
        <p:spPr bwMode="auto">
          <a:xfrm>
            <a:off x="392722" y="1491449"/>
            <a:ext cx="11432569" cy="529996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5716964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1353800" y="6356350"/>
            <a:ext cx="471492" cy="358775"/>
          </a:xfrm>
        </p:spPr>
        <p:txBody>
          <a:bodyPr/>
          <a:lstStyle>
            <a:lvl1pPr>
              <a:defRPr sz="1800" b="1"/>
            </a:lvl1pPr>
          </a:lstStyle>
          <a:p>
            <a:pPr>
              <a:defRPr/>
            </a:pPr>
            <a:fld id="{C4D057BC-561F-4B69-9D1A-BF6442AC3FFC}" type="slidenum">
              <a:rPr lang="en-GB"/>
              <a:t>‹nº›</a:t>
            </a:fld>
            <a:endParaRPr lang="en-GB"/>
          </a:p>
        </p:txBody>
      </p:sp>
      <p:pic>
        <p:nvPicPr>
          <p:cNvPr id="486373261" name="Picture 6" descr="A close up of a sign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92722" y="243179"/>
            <a:ext cx="1174141" cy="1089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55275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23526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55500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574D88-E026-4204-A47A-D7DF20E4089F}" type="datetimeFigureOut">
              <a:rPr lang="en-GB"/>
              <a:t>12/10/2024</a:t>
            </a:fld>
            <a:endParaRPr lang="en-GB"/>
          </a:p>
        </p:txBody>
      </p:sp>
      <p:sp>
        <p:nvSpPr>
          <p:cNvPr id="13868990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630985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D057BC-561F-4B69-9D1A-BF6442AC3FFC}" type="slidenum">
              <a:rPr lang="en-GB"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3114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6589901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684924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434797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574D88-E026-4204-A47A-D7DF20E4089F}" type="datetimeFigureOut">
              <a:rPr lang="en-GB"/>
              <a:t>12/10/2024</a:t>
            </a:fld>
            <a:endParaRPr lang="en-GB"/>
          </a:p>
        </p:txBody>
      </p:sp>
      <p:sp>
        <p:nvSpPr>
          <p:cNvPr id="16782315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712543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D057BC-561F-4B69-9D1A-BF6442AC3FFC}" type="slidenum">
              <a:rPr lang="en-GB"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70233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586956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83860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3487575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3550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671797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574D88-E026-4204-A47A-D7DF20E4089F}" type="datetimeFigureOut">
              <a:rPr lang="en-GB"/>
              <a:t>12/10/2024</a:t>
            </a:fld>
            <a:endParaRPr lang="en-GB"/>
          </a:p>
        </p:txBody>
      </p:sp>
      <p:sp>
        <p:nvSpPr>
          <p:cNvPr id="151730005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3228086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D057BC-561F-4B69-9D1A-BF6442AC3FFC}" type="slidenum">
              <a:rPr lang="en-GB"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0458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7755241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574D88-E026-4204-A47A-D7DF20E4089F}" type="datetimeFigureOut">
              <a:rPr lang="en-GB"/>
              <a:t>12/10/2024</a:t>
            </a:fld>
            <a:endParaRPr lang="en-GB"/>
          </a:p>
        </p:txBody>
      </p:sp>
      <p:sp>
        <p:nvSpPr>
          <p:cNvPr id="184897413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5971515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D057BC-561F-4B69-9D1A-BF6442AC3FFC}" type="slidenum">
              <a:rPr lang="en-GB"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27148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574D88-E026-4204-A47A-D7DF20E4089F}" type="datetimeFigureOut">
              <a:rPr lang="en-GB"/>
              <a:t>12/10/2024</a:t>
            </a:fld>
            <a:endParaRPr lang="en-GB"/>
          </a:p>
        </p:txBody>
      </p:sp>
      <p:sp>
        <p:nvSpPr>
          <p:cNvPr id="183762729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7637420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D057BC-561F-4B69-9D1A-BF6442AC3FFC}" type="slidenum">
              <a:rPr lang="en-GB"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4657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6087927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37156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155160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574D88-E026-4204-A47A-D7DF20E4089F}" type="datetimeFigureOut">
              <a:rPr lang="en-GB"/>
              <a:t>12/10/2024</a:t>
            </a:fld>
            <a:endParaRPr lang="en-GB"/>
          </a:p>
        </p:txBody>
      </p:sp>
      <p:sp>
        <p:nvSpPr>
          <p:cNvPr id="3207671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426265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D057BC-561F-4B69-9D1A-BF6442AC3FFC}" type="slidenum">
              <a:rPr lang="en-GB"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71033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5476563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388898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881371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574D88-E026-4204-A47A-D7DF20E4089F}" type="datetimeFigureOut">
              <a:rPr lang="en-GB"/>
              <a:t>12/10/2024</a:t>
            </a:fld>
            <a:endParaRPr lang="en-GB"/>
          </a:p>
        </p:txBody>
      </p:sp>
      <p:sp>
        <p:nvSpPr>
          <p:cNvPr id="137667308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9373228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D057BC-561F-4B69-9D1A-BF6442AC3FFC}" type="slidenum">
              <a:rPr lang="en-GB"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0575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1353387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61666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574D88-E026-4204-A47A-D7DF20E4089F}" type="datetimeFigureOut">
              <a:rPr lang="en-GB"/>
              <a:t>12/10/2024</a:t>
            </a:fld>
            <a:endParaRPr lang="en-GB"/>
          </a:p>
        </p:txBody>
      </p:sp>
      <p:sp>
        <p:nvSpPr>
          <p:cNvPr id="395368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03382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D057BC-561F-4B69-9D1A-BF6442AC3FFC}" type="slidenum">
              <a:rPr lang="en-GB"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8921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6529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230806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574D88-E026-4204-A47A-D7DF20E4089F}" type="datetimeFigureOut">
              <a:rPr lang="en-GB"/>
              <a:t>12/10/2024</a:t>
            </a:fld>
            <a:endParaRPr lang="en-GB"/>
          </a:p>
        </p:txBody>
      </p:sp>
      <p:sp>
        <p:nvSpPr>
          <p:cNvPr id="5706227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83466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D057BC-561F-4B69-9D1A-BF6442AC3FFC}" type="slidenum">
              <a:rPr lang="en-GB"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21510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111059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0571781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F574D88-E026-4204-A47A-D7DF20E4089F}" type="datetimeFigureOut">
              <a:rPr lang="en-GB"/>
              <a:t>12/10/2024</a:t>
            </a:fld>
            <a:endParaRPr lang="en-GB"/>
          </a:p>
        </p:txBody>
      </p:sp>
      <p:sp>
        <p:nvSpPr>
          <p:cNvPr id="8148618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7137172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4D057BC-561F-4B69-9D1A-BF6442AC3FFC}" type="slidenum">
              <a:rPr lang="en-GB"/>
              <a:t>‹nº›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3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4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21135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457325"/>
            <a:ext cx="9144000" cy="147983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pt-BR"/>
              <a:t>K-Means</a:t>
            </a:r>
            <a:br>
              <a:rPr lang="pt-BR"/>
            </a:br>
            <a:r>
              <a:rPr lang="pt-BR" sz="40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Lab: Support Vector Machines</a:t>
            </a:r>
            <a:br>
              <a:rPr lang="pt-BR"/>
            </a:br>
            <a:r>
              <a:rPr lang="pt-BR" sz="40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Lab: Recommender Systems</a:t>
            </a:r>
            <a:endParaRPr/>
          </a:p>
        </p:txBody>
      </p:sp>
      <p:sp>
        <p:nvSpPr>
          <p:cNvPr id="160284571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7"/>
            <a:ext cx="9144000" cy="198033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pt-BR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Guilherme António de Souza Rodrigues</a:t>
            </a:r>
            <a:r>
              <a:rPr lang="pt-BR" sz="2000"/>
              <a:t> (a2020154390)</a:t>
            </a:r>
            <a:endParaRPr sz="2000"/>
          </a:p>
          <a:p>
            <a:pPr>
              <a:defRPr/>
            </a:pPr>
            <a:r>
              <a:rPr lang="de-DE" sz="2000"/>
              <a:t>João</a:t>
            </a:r>
            <a:r>
              <a:rPr lang="pt-BR" sz="2000"/>
              <a:t> Pedro Martins</a:t>
            </a:r>
            <a:r>
              <a:rPr lang="de-DE" sz="2000"/>
              <a:t> Alves</a:t>
            </a:r>
            <a:r>
              <a:rPr lang="pt-BR" sz="2000"/>
              <a:t> (a2020141847)</a:t>
            </a:r>
            <a:endParaRPr sz="2000"/>
          </a:p>
          <a:p>
            <a:pPr>
              <a:defRPr/>
            </a:pPr>
            <a:r>
              <a:rPr lang="de-DE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Pedro Miguel Pêgo Pereira</a:t>
            </a:r>
            <a:r>
              <a:rPr lang="pt-BR" sz="2000"/>
              <a:t> (a2020152630)</a:t>
            </a:r>
            <a:endParaRPr/>
          </a:p>
          <a:p>
            <a:pPr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Guilherme Almeida</a:t>
            </a:r>
            <a:r>
              <a:rPr lang="pt-BR" sz="2000"/>
              <a:t> (a2020)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8972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Índice</a:t>
            </a:r>
            <a:endParaRPr lang="en-GB"/>
          </a:p>
        </p:txBody>
      </p:sp>
      <p:sp>
        <p:nvSpPr>
          <p:cNvPr id="1523143372" name="Content Placeholder 2"/>
          <p:cNvSpPr>
            <a:spLocks noGrp="1"/>
          </p:cNvSpPr>
          <p:nvPr>
            <p:ph idx="1"/>
          </p:nvPr>
        </p:nvSpPr>
        <p:spPr bwMode="auto">
          <a:xfrm>
            <a:off x="392722" y="1491449"/>
            <a:ext cx="11432569" cy="4998128"/>
          </a:xfrm>
        </p:spPr>
        <p:txBody>
          <a:bodyPr/>
          <a:lstStyle/>
          <a:p>
            <a:pPr>
              <a:defRPr/>
            </a:pPr>
            <a:r>
              <a:rPr lang="pt-BR"/>
              <a:t>K-Means</a:t>
            </a:r>
            <a:endParaRPr/>
          </a:p>
          <a:p>
            <a:pPr>
              <a:defRPr/>
            </a:pPr>
            <a:r>
              <a:rPr lang="pt-BR"/>
              <a:t>Lab: Support Vector Machines</a:t>
            </a:r>
            <a:endParaRPr/>
          </a:p>
          <a:p>
            <a:pPr>
              <a:defRPr/>
            </a:pPr>
            <a:r>
              <a:rPr lang="pt-BR"/>
              <a:t>Lab: Recommender Systems</a:t>
            </a:r>
            <a:endParaRPr/>
          </a:p>
          <a:p>
            <a:pPr>
              <a:defRPr/>
            </a:pPr>
            <a:r>
              <a:rPr lang="pt-BR"/>
              <a:t>Bibliografia</a:t>
            </a:r>
            <a:endParaRPr/>
          </a:p>
        </p:txBody>
      </p:sp>
      <p:sp>
        <p:nvSpPr>
          <p:cNvPr id="696229954" name="Retângulo: Cantos Arredondados 5"/>
          <p:cNvSpPr/>
          <p:nvPr/>
        </p:nvSpPr>
        <p:spPr bwMode="auto">
          <a:xfrm>
            <a:off x="422031" y="1505243"/>
            <a:ext cx="1716258" cy="506437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3922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Índice</a:t>
            </a:r>
            <a:endParaRPr lang="en-GB"/>
          </a:p>
        </p:txBody>
      </p:sp>
      <p:sp>
        <p:nvSpPr>
          <p:cNvPr id="848879155" name="Content Placeholder 2"/>
          <p:cNvSpPr>
            <a:spLocks noGrp="1"/>
          </p:cNvSpPr>
          <p:nvPr>
            <p:ph idx="1"/>
          </p:nvPr>
        </p:nvSpPr>
        <p:spPr bwMode="auto">
          <a:xfrm>
            <a:off x="392722" y="1491449"/>
            <a:ext cx="11432569" cy="4998128"/>
          </a:xfrm>
        </p:spPr>
        <p:txBody>
          <a:bodyPr/>
          <a:lstStyle/>
          <a:p>
            <a:pPr>
              <a:defRPr/>
            </a:pPr>
            <a:r>
              <a:rPr lang="pt-BR"/>
              <a:t>K-Means</a:t>
            </a:r>
            <a:endParaRPr/>
          </a:p>
          <a:p>
            <a:pPr>
              <a:defRPr/>
            </a:pPr>
            <a:r>
              <a:rPr lang="pt-BR"/>
              <a:t>Lab: Support Vector Machines</a:t>
            </a:r>
            <a:endParaRPr/>
          </a:p>
          <a:p>
            <a:pPr>
              <a:defRPr/>
            </a:pPr>
            <a:r>
              <a:rPr lang="pt-BR"/>
              <a:t>Lab: Recommender Systems</a:t>
            </a:r>
            <a:endParaRPr/>
          </a:p>
          <a:p>
            <a:pPr>
              <a:defRPr/>
            </a:pPr>
            <a:r>
              <a:rPr lang="pt-BR"/>
              <a:t>Bibliografia</a:t>
            </a:r>
            <a:endParaRPr/>
          </a:p>
        </p:txBody>
      </p:sp>
      <p:sp>
        <p:nvSpPr>
          <p:cNvPr id="79386156" name="Retângulo: Cantos Arredondados 5"/>
          <p:cNvSpPr/>
          <p:nvPr/>
        </p:nvSpPr>
        <p:spPr bwMode="auto">
          <a:xfrm>
            <a:off x="392722" y="1941342"/>
            <a:ext cx="4741986" cy="506437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05538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36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Lab: Support Vector Machines</a:t>
            </a:r>
            <a:endParaRPr lang="pt-PT"/>
          </a:p>
        </p:txBody>
      </p:sp>
      <p:sp>
        <p:nvSpPr>
          <p:cNvPr id="2145379522" name="Marcador de Posição de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Support Vector Machine (SVM) é um algoritmo supervisionado usado para classificação e regressão.  </a:t>
            </a:r>
            <a:endParaRPr lang="pt-PT"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 seu objetivo é encontrar o separador (hiperplano) que melhor divide os dados entre as classes.</a:t>
            </a:r>
            <a:endParaRPr lang="pt-PT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Transforma os dados para um espaço de maior dimensãoonde as classes podem ser separadas.</a:t>
            </a:r>
            <a:endParaRPr lang="pt-PT"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Procura o hiperplano ótimo que maximiza a margem entre as classes.</a:t>
            </a:r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1943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Support Vector Machines</a:t>
            </a:r>
            <a:endParaRPr sz="3600"/>
          </a:p>
        </p:txBody>
      </p:sp>
      <p:sp>
        <p:nvSpPr>
          <p:cNvPr id="632736206" name="Marcador de Posição de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Começamos por usar o comando </a:t>
            </a:r>
            <a:r>
              <a:rPr lang="pt-PT" b="1"/>
              <a:t>!</a:t>
            </a:r>
            <a:r>
              <a:rPr lang="pt-PT" b="1"/>
              <a:t>wget </a:t>
            </a:r>
            <a:r>
              <a:rPr lang="pt-PT" b="0"/>
              <a:t>para obter o nosso dataset.</a:t>
            </a:r>
            <a:endParaRPr b="0"/>
          </a:p>
        </p:txBody>
      </p:sp>
      <p:pic>
        <p:nvPicPr>
          <p:cNvPr id="10381856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8281" y="2822219"/>
            <a:ext cx="11601450" cy="2638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416226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pt-BR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Support Vector Machines</a:t>
            </a:r>
            <a:endParaRPr sz="3600"/>
          </a:p>
        </p:txBody>
      </p:sp>
      <p:sp>
        <p:nvSpPr>
          <p:cNvPr id="57551679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2721" y="1491448"/>
            <a:ext cx="6252184" cy="52999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>
              <a:defRPr/>
            </a:pPr>
            <a:r>
              <a:rPr/>
              <a:t>Bibliotecas usadas: </a:t>
            </a:r>
            <a:endParaRPr/>
          </a:p>
          <a:p>
            <a:pPr marL="394023" indent="-394023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import pandas as pd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import pylab as pl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import numpy as np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import scipy.optimize as opt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from sklearn import preprocessing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from sklearn.model_selection import train_test_split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%matplotlib inline 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import matplotlib.pyplot as plt</a:t>
            </a:r>
            <a:endParaRPr/>
          </a:p>
        </p:txBody>
      </p:sp>
      <p:pic>
        <p:nvPicPr>
          <p:cNvPr id="1010749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593358" y="2649140"/>
            <a:ext cx="5291255" cy="18930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854218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pt-BR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Support Vector Machines</a:t>
            </a:r>
            <a:endParaRPr sz="3600"/>
          </a:p>
        </p:txBody>
      </p:sp>
      <p:sp>
        <p:nvSpPr>
          <p:cNvPr id="2058587913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>
              <a:defRPr/>
            </a:pPr>
            <a:r>
              <a:rPr lang="pt-PT"/>
              <a:t>Em seguida carregamos o conteúdo do nosso dataset.</a:t>
            </a:r>
            <a:endParaRPr lang="pt-PT"/>
          </a:p>
          <a:p>
            <a:pPr>
              <a:defRPr/>
            </a:pPr>
            <a:r>
              <a:rPr lang="pt-PT"/>
              <a:t>Para isso lemos o nosso .csv com: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cell_df = pd.read_csv("cell_samples.csv")</a:t>
            </a:r>
            <a:endParaRPr lang="pt-PT" sz="2800" b="1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 apresentamos os primeiro 5 resultado com: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cell_df.head()</a:t>
            </a:r>
            <a:endParaRPr b="1"/>
          </a:p>
        </p:txBody>
      </p:sp>
      <p:pic>
        <p:nvPicPr>
          <p:cNvPr id="13012430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16550" y="3202781"/>
            <a:ext cx="9184911" cy="2914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541258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pt-BR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Support Vector Machines</a:t>
            </a:r>
            <a:endParaRPr sz="3600"/>
          </a:p>
        </p:txBody>
      </p:sp>
      <p:sp>
        <p:nvSpPr>
          <p:cNvPr id="1338908291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Em seguida faremos um gráfico de dispersão (scatter plot) que mostre a distribuição das classes (benign/malignant) em função de:</a:t>
            </a:r>
            <a:endParaRPr lang="pt-PT"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lang="pt-PT"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eixo X → Clump (espessura do aglomerado celular)</a:t>
            </a:r>
            <a:endParaRPr lang="pt-PT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pt-PT"/>
          </a:p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eixo Y → UnifSize (uniformidade do tamanho das células)</a:t>
            </a:r>
            <a:endParaRPr lang="pt-PT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768574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pt-BR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Support Vector Machines</a:t>
            </a:r>
            <a:endParaRPr sz="3600"/>
          </a:p>
        </p:txBody>
      </p:sp>
      <p:sp>
        <p:nvSpPr>
          <p:cNvPr id="78313873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2721" y="1491448"/>
            <a:ext cx="6112590" cy="52999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ax = cell_df[cell_df['Class'] == </a:t>
            </a:r>
            <a:r>
              <a:rPr lang="en-US" sz="2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4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][</a:t>
            </a:r>
            <a:r>
              <a:rPr lang="en-US" sz="2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0:50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].plot(kind='</a:t>
            </a:r>
            <a:r>
              <a:rPr lang="en-US" sz="2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scatter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', x='</a:t>
            </a:r>
            <a:r>
              <a:rPr lang="en-US" sz="2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Clump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', y='</a:t>
            </a:r>
            <a:r>
              <a:rPr lang="en-US" sz="2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UnifSize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', color='</a:t>
            </a:r>
            <a:r>
              <a:rPr lang="en-US" sz="2600" b="1" i="0" u="none" strike="noStrike" cap="none" spc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DarkBlue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', label='malignant')</a:t>
            </a:r>
            <a:r>
              <a:rPr lang="en-US" sz="2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;</a:t>
            </a:r>
            <a:endParaRPr sz="2600" b="1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2600" b="1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cell_df[cell_df['Class'] == </a:t>
            </a:r>
            <a:r>
              <a:rPr lang="en-US" sz="2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][</a:t>
            </a:r>
            <a:r>
              <a:rPr lang="en-US" sz="2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0:50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].plot(kind='</a:t>
            </a:r>
            <a:r>
              <a:rPr lang="en-US" sz="2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scatter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', x='</a:t>
            </a:r>
            <a:r>
              <a:rPr lang="en-US" sz="2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Clump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', y='</a:t>
            </a:r>
            <a:r>
              <a:rPr lang="en-US" sz="2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UnifSize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', color='</a:t>
            </a:r>
            <a:r>
              <a:rPr lang="en-US" sz="2600" b="1" i="0" u="none" strike="noStrike" cap="none" spc="0">
                <a:solidFill>
                  <a:srgbClr val="FFC000"/>
                </a:solidFill>
                <a:latin typeface="Calibri"/>
                <a:ea typeface="Calibri"/>
                <a:cs typeface="Calibri"/>
              </a:rPr>
              <a:t>Yellow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', label='benign', ax=ax);</a:t>
            </a:r>
            <a:endParaRPr lang="en-US" sz="2600" b="1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sz="2600" b="1"/>
          </a:p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plt.show()</a:t>
            </a:r>
            <a:r>
              <a:rPr/>
              <a:t>;</a:t>
            </a:r>
            <a:endParaRPr lang="en-US" sz="2600" b="1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9753583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095999" y="1491448"/>
            <a:ext cx="5732668" cy="44126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263775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pt-BR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Support Vector Machines</a:t>
            </a:r>
            <a:endParaRPr sz="3600"/>
          </a:p>
        </p:txBody>
      </p:sp>
      <p:sp>
        <p:nvSpPr>
          <p:cNvPr id="1994985421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>
              <a:defRPr/>
            </a:pPr>
            <a:r>
              <a:rPr/>
              <a:t>Em seguida vemos o tipo de dados que temos no nosso dataset com: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cell_df.dtypes</a:t>
            </a:r>
            <a:r>
              <a:rPr/>
              <a:t>.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6390296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6874" y="2401453"/>
            <a:ext cx="3299393" cy="34799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815818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pt-BR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Support Vector Machines</a:t>
            </a:r>
            <a:endParaRPr sz="3600"/>
          </a:p>
        </p:txBody>
      </p:sp>
      <p:sp>
        <p:nvSpPr>
          <p:cNvPr id="202619259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2721" y="1491448"/>
            <a:ext cx="6618606" cy="52999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>
              <a:defRPr/>
            </a:pPr>
            <a:r>
              <a:rPr/>
              <a:t>Para converter </a:t>
            </a:r>
            <a:r>
              <a:rPr b="1"/>
              <a:t>BareNuc </a:t>
            </a:r>
            <a:r>
              <a:rPr b="0"/>
              <a:t>para int64 temos de converter os seus valores para int. Para isso:</a:t>
            </a:r>
            <a:endParaRPr b="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cell_df = cell_df[pd.to_numeric(cell_df['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BareNuc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'], errors='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coerce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').notnull()]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cell_df['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BareNuc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'] = cell_df['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BareNuc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'].astype('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int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')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b="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cell_df.dtypes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b="0"/>
          </a:p>
        </p:txBody>
      </p:sp>
      <p:pic>
        <p:nvPicPr>
          <p:cNvPr id="6652422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111132" y="2109517"/>
            <a:ext cx="3305507" cy="4063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623422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pt-BR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Support Vector Machines</a:t>
            </a:r>
            <a:endParaRPr sz="3600"/>
          </a:p>
        </p:txBody>
      </p:sp>
      <p:sp>
        <p:nvSpPr>
          <p:cNvPr id="1972753975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Preparamos os dados de entrada (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features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) que o nosso modelo vai usar.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just"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algn="just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feature_df = cell_df[['Clump', 'UnifSize', 'UnifShape', 'MargAdh', 'SingEpiSize', 'BareNuc', 'BlandChrom', 'NormNucl', 'Mit']]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just">
              <a:defRPr/>
            </a:pPr>
            <a:endParaRPr lang="en-US" sz="24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just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Isto cria um novo DataFrame (feature_df) com apenas as colunas que contêm as características das células, ou seja, as variáveis que descrevem cada amostra/paciente.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just"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just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X = np.asarray(feature_df)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just"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just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Isto a converte o feature_df (que é um DataFrame do pandas) para um array NumPy puro.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241543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en-US" sz="3600" b="1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Lab: Support Vector Machines</a:t>
            </a:r>
            <a:endParaRPr/>
          </a:p>
        </p:txBody>
      </p:sp>
      <p:pic>
        <p:nvPicPr>
          <p:cNvPr id="429170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15600" y="2842616"/>
            <a:ext cx="9037014" cy="2209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836417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en-US" sz="3600" b="1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Lab: Support Vector Machines</a:t>
            </a:r>
            <a:endParaRPr sz="3600"/>
          </a:p>
        </p:txBody>
      </p:sp>
      <p:sp>
        <p:nvSpPr>
          <p:cNvPr id="1008507010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Queremos que o modelo preveja o valor de Class (ou seja, benigno (=2) ou maligno (=4)). Como esse campo pode ter um dos dois únicos valores possíveis, precisamos alterar seu nível de medição para refletir isso.</a:t>
            </a:r>
            <a:endParaRPr/>
          </a:p>
          <a:p>
            <a:pPr algn="just">
              <a:defRPr/>
            </a:pPr>
            <a:endParaRPr/>
          </a:p>
          <a:p>
            <a:pPr algn="just"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cell_df['Class'] = cell_df['Class'].astype('int')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:</a:t>
            </a:r>
            <a:endParaRPr/>
          </a:p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isto converte a coluna Class para tipo inteiro (int64).</a:t>
            </a:r>
            <a:endParaRPr/>
          </a:p>
          <a:p>
            <a:pPr algn="just">
              <a:defRPr/>
            </a:pPr>
            <a:endParaRPr/>
          </a:p>
          <a:p>
            <a:pPr algn="just"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y = np.asarray(cell_df['Class']):</a:t>
            </a:r>
            <a:endParaRPr lang="en-US" sz="2800" b="1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just"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Isto transforma a coluna Class num array NumPy, igual ao que foi feito com as features (X)</a:t>
            </a:r>
            <a:endParaRPr/>
          </a:p>
        </p:txBody>
      </p:sp>
      <p:pic>
        <p:nvPicPr>
          <p:cNvPr id="772508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29945" y="4506734"/>
            <a:ext cx="5479537" cy="7306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62895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en-US" sz="3600" b="1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Lab: Support Vector Machines</a:t>
            </a:r>
            <a:endParaRPr sz="3600"/>
          </a:p>
        </p:txBody>
      </p:sp>
      <p:sp>
        <p:nvSpPr>
          <p:cNvPr id="858883047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Em seguida, dividimos nosso conjunto de dados em conjunto de treinamento e teste:</a:t>
            </a:r>
            <a:endParaRPr/>
          </a:p>
          <a:p>
            <a:pPr algn="just">
              <a:defRPr/>
            </a:pPr>
            <a:endParaRPr/>
          </a:p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train_test_split(...)</a:t>
            </a:r>
            <a:r>
              <a:rPr/>
              <a:t>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função</a:t>
            </a:r>
            <a:r>
              <a:rPr/>
              <a:t> que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erve pra dividir o dataset em duas partes: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algn="just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Treino (Train set): usado pra o modelo aprender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algn="just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Teste (Test set): usado pra avaliar o desempenho do modelo, com dados que ele nunca viu</a:t>
            </a:r>
            <a:endParaRPr sz="2400"/>
          </a:p>
          <a:p>
            <a:pPr algn="just">
              <a:defRPr/>
            </a:pPr>
            <a:endParaRPr/>
          </a:p>
          <a:p>
            <a:pPr algn="just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test_size=0.2</a:t>
            </a:r>
            <a:r>
              <a:rPr sz="2400"/>
              <a:t>,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isto diz para que 20% dos dados sejam para teste, e o restante 80% para treino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59339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en-US" sz="3600" b="1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Lab: Support Vector Machines</a:t>
            </a:r>
            <a:endParaRPr/>
          </a:p>
        </p:txBody>
      </p:sp>
      <p:pic>
        <p:nvPicPr>
          <p:cNvPr id="19157590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25489" y="3658853"/>
            <a:ext cx="4967033" cy="9651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42218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en-US" sz="3600" b="1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Lab: Support Vector Machines</a:t>
            </a:r>
            <a:endParaRPr sz="3600"/>
          </a:p>
        </p:txBody>
      </p:sp>
      <p:sp>
        <p:nvSpPr>
          <p:cNvPr id="2020418170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Em seguida criamos e treinamos o nosso modelo SVM com um kernel específico — neste caso o RBF, que é o mais usado.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rom sklearn import svm</a:t>
            </a:r>
            <a:r>
              <a:rPr/>
              <a:t>: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Importa o módulo svm da biblioteca scikit-learn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clf = svm.SVC(kernel='rbf')</a:t>
            </a:r>
            <a:r>
              <a:rPr/>
              <a:t>: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Aqui estás a criar o teu modelo SVM, e a dizer qual o kernel que ele vai usar.</a:t>
            </a:r>
            <a:endParaRPr/>
          </a:p>
        </p:txBody>
      </p:sp>
      <p:pic>
        <p:nvPicPr>
          <p:cNvPr id="5883653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8431" y="2530077"/>
            <a:ext cx="5461149" cy="1309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564710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en-US" sz="3600" b="1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Lab: Support Vector Machines</a:t>
            </a:r>
            <a:endParaRPr sz="3600"/>
          </a:p>
        </p:txBody>
      </p:sp>
      <p:pic>
        <p:nvPicPr>
          <p:cNvPr id="16532729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13581" y="1431569"/>
            <a:ext cx="2990849" cy="54197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621321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en-US" sz="3600" b="1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Lab: Support Vector Machines</a:t>
            </a:r>
            <a:endParaRPr sz="3600"/>
          </a:p>
        </p:txBody>
      </p:sp>
      <p:sp>
        <p:nvSpPr>
          <p:cNvPr id="464248065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Depois de ajustado, o modelo pode ser usado para prever novos valores: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Esse array é literalmente o que o nosso modelo acha que é cada célula</a:t>
            </a:r>
            <a:endParaRPr lang="en-US"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7185090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959" y="3717272"/>
            <a:ext cx="5302092" cy="1949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613473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en-US" sz="3600" b="1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Lab: Support Vector Machines</a:t>
            </a:r>
            <a:endParaRPr sz="3600"/>
          </a:p>
        </p:txBody>
      </p:sp>
      <p:pic>
        <p:nvPicPr>
          <p:cNvPr id="16325529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8827" y="2891275"/>
            <a:ext cx="5660047" cy="2500312"/>
          </a:xfrm>
          <a:prstGeom prst="rect">
            <a:avLst/>
          </a:prstGeom>
        </p:spPr>
      </p:pic>
      <p:pic>
        <p:nvPicPr>
          <p:cNvPr id="210167221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02483" y="1291528"/>
            <a:ext cx="5622805" cy="49127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865130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3"/>
            <a:ext cx="9987611" cy="1089853"/>
          </a:xfrm>
        </p:spPr>
        <p:txBody>
          <a:bodyPr/>
          <a:lstStyle>
            <a:lvl1pPr>
              <a:defRPr sz="3600" b="1"/>
            </a:lvl1pPr>
          </a:lstStyle>
          <a:p>
            <a:pPr>
              <a:defRPr/>
            </a:pPr>
            <a:r>
              <a:rPr lang="en-US" sz="3600" b="1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Lab: Support Vector Machines</a:t>
            </a:r>
            <a:endParaRPr/>
          </a:p>
        </p:txBody>
      </p:sp>
      <p:sp>
        <p:nvSpPr>
          <p:cNvPr id="2006325875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>
              <a:defRPr/>
            </a:pPr>
            <a:r>
              <a:rPr/>
              <a:t>N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ultima parte vamos medir numericamente a performance do nosso modelo com duas métricas diferentes:</a:t>
            </a:r>
            <a:r>
              <a:rPr/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F1-Score</a:t>
            </a:r>
            <a:r>
              <a:rPr/>
              <a:t> 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Jaccard Index</a:t>
            </a:r>
            <a:r>
              <a:rPr/>
              <a:t>.</a:t>
            </a:r>
            <a:br>
              <a:rPr/>
            </a:br>
            <a:endParaRPr/>
          </a:p>
        </p:txBody>
      </p:sp>
      <p:graphicFrame>
        <p:nvGraphicFramePr>
          <p:cNvPr id="1649748113" name=""/>
          <p:cNvGraphicFramePr>
            <a:graphicFrameLocks xmlns:a="http://schemas.openxmlformats.org/drawingml/2006/main"/>
          </p:cNvGraphicFramePr>
          <p:nvPr/>
        </p:nvGraphicFramePr>
        <p:xfrm>
          <a:off x="2038656" y="2874009"/>
          <a:ext cx="8140699" cy="11099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031999"/>
                <a:gridCol w="2031999"/>
                <a:gridCol w="2031999"/>
                <a:gridCol w="2031999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Métrica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Significado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O Nosso Valor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Interpretação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F1-Score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Equilibrio entre precisão e recall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0,96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Modelo equilibrado e confiável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Jaccard Index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Semelhança entre classes previstas e reais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0,90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Previsões muito coerentes com a realidade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909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Índice</a:t>
            </a:r>
            <a:endParaRPr lang="en-GB"/>
          </a:p>
        </p:txBody>
      </p:sp>
      <p:sp>
        <p:nvSpPr>
          <p:cNvPr id="368081156" name="Content Placeholder 2"/>
          <p:cNvSpPr>
            <a:spLocks noGrp="1"/>
          </p:cNvSpPr>
          <p:nvPr>
            <p:ph idx="1"/>
          </p:nvPr>
        </p:nvSpPr>
        <p:spPr bwMode="auto">
          <a:xfrm>
            <a:off x="392722" y="1491449"/>
            <a:ext cx="11432569" cy="4998128"/>
          </a:xfrm>
        </p:spPr>
        <p:txBody>
          <a:bodyPr/>
          <a:lstStyle/>
          <a:p>
            <a:pPr>
              <a:defRPr/>
            </a:pPr>
            <a:r>
              <a:rPr lang="pt-BR"/>
              <a:t>K-Means</a:t>
            </a:r>
            <a:endParaRPr/>
          </a:p>
          <a:p>
            <a:pPr>
              <a:defRPr/>
            </a:pPr>
            <a:r>
              <a:rPr lang="pt-BR"/>
              <a:t>Lab: Support Vector Machines</a:t>
            </a:r>
            <a:endParaRPr/>
          </a:p>
          <a:p>
            <a:pPr>
              <a:defRPr/>
            </a:pPr>
            <a:r>
              <a:rPr lang="pt-BR"/>
              <a:t>Lab: Recommender Systems</a:t>
            </a:r>
            <a:endParaRPr/>
          </a:p>
          <a:p>
            <a:pPr>
              <a:defRPr/>
            </a:pPr>
            <a:r>
              <a:rPr lang="pt-BR"/>
              <a:t>Bibliografia</a:t>
            </a:r>
            <a:endParaRPr/>
          </a:p>
        </p:txBody>
      </p:sp>
      <p:sp>
        <p:nvSpPr>
          <p:cNvPr id="1780865044" name="Retângulo: Cantos Arredondados 5"/>
          <p:cNvSpPr/>
          <p:nvPr/>
        </p:nvSpPr>
        <p:spPr bwMode="auto">
          <a:xfrm>
            <a:off x="392722" y="2433983"/>
            <a:ext cx="4418429" cy="506437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342417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1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pt-PT" sz="36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Lab</a:t>
            </a:r>
            <a:r>
              <a:rPr lang="pt-PT" sz="36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pt-PT" sz="36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Recommender</a:t>
            </a:r>
            <a:r>
              <a:rPr lang="pt-PT" sz="36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pt-PT" sz="36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Systems</a:t>
            </a:r>
            <a:endParaRPr/>
          </a:p>
        </p:txBody>
      </p:sp>
      <p:sp>
        <p:nvSpPr>
          <p:cNvPr id="1934825605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lnSpc>
                <a:spcPct val="150000"/>
              </a:lnSpc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Os sistemas de recomendação são um conjunto de algoritmos utilizados para recomendar itens aos utilizadores com base em informações coletadas dos próprios utilizadores. Esses sistemas se tornaram onipresentes e podem ser encontrados em lojas online, bancos de dados de filmes e sites de busca de empregos.</a:t>
            </a:r>
            <a:endParaRPr lang="pt-PT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0137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pt-PT"/>
              <a:t>Lab</a:t>
            </a:r>
            <a:r>
              <a:rPr lang="pt-PT"/>
              <a:t>: </a:t>
            </a:r>
            <a:r>
              <a:rPr lang="pt-PT"/>
              <a:t>Recommender</a:t>
            </a:r>
            <a:r>
              <a:rPr lang="pt-PT"/>
              <a:t> </a:t>
            </a:r>
            <a:r>
              <a:rPr lang="pt-PT"/>
              <a:t>Systems</a:t>
            </a:r>
            <a:endParaRPr lang="pt-PT"/>
          </a:p>
        </p:txBody>
      </p:sp>
      <p:sp>
        <p:nvSpPr>
          <p:cNvPr id="19029308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algn="just">
              <a:lnSpc>
                <a:spcPct val="100000"/>
              </a:lnSpc>
              <a:defRPr/>
            </a:pPr>
            <a:r>
              <a:rPr lang="pt-PT"/>
              <a:t>Usamos o comando </a:t>
            </a:r>
            <a:r>
              <a:rPr lang="pt-PT" b="1"/>
              <a:t>!</a:t>
            </a:r>
            <a:r>
              <a:rPr lang="pt-PT" b="1"/>
              <a:t>wget</a:t>
            </a:r>
            <a:r>
              <a:rPr lang="pt-PT"/>
              <a:t> para realizar o </a:t>
            </a:r>
            <a:r>
              <a:rPr lang="pt-PT"/>
              <a:t>donwload</a:t>
            </a:r>
            <a:r>
              <a:rPr lang="pt-PT"/>
              <a:t> do </a:t>
            </a:r>
            <a:r>
              <a:rPr lang="pt-PT"/>
              <a:t>datasets</a:t>
            </a:r>
            <a:r>
              <a:rPr lang="pt-PT"/>
              <a:t>, assim que este estiver </a:t>
            </a:r>
            <a:r>
              <a:rPr lang="pt-PT"/>
              <a:t>concluido</a:t>
            </a:r>
            <a:r>
              <a:rPr lang="pt-PT"/>
              <a:t> iremos o descompactar com o </a:t>
            </a:r>
            <a:r>
              <a:rPr lang="pt-PT" b="1"/>
              <a:t>unzip</a:t>
            </a:r>
            <a:r>
              <a:rPr lang="pt-PT"/>
              <a:t>.</a:t>
            </a:r>
            <a:endParaRPr/>
          </a:p>
        </p:txBody>
      </p:sp>
      <p:pic>
        <p:nvPicPr>
          <p:cNvPr id="362057861" name="Imagem 184205787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5135" y="3058322"/>
            <a:ext cx="11370155" cy="26348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94277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1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just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Lab: Recommender Systems</a:t>
            </a:r>
            <a:endParaRPr/>
          </a:p>
        </p:txBody>
      </p:sp>
      <p:sp>
        <p:nvSpPr>
          <p:cNvPr id="541273860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pt-PT"/>
              <a:t>De seguida, realizamos a importação das bibliotecas necessárias.</a:t>
            </a:r>
            <a:endParaRPr/>
          </a:p>
        </p:txBody>
      </p:sp>
      <p:pic>
        <p:nvPicPr>
          <p:cNvPr id="1861199986" name="Imagem 148548041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96222" y="3195067"/>
            <a:ext cx="9225565" cy="18927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638913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1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1104053298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7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pt-PT"/>
              <a:t>Com as etapas anteriores realizadas poderemos começar por ler os </a:t>
            </a:r>
            <a:r>
              <a:rPr lang="pt-PT"/>
              <a:t>datasets</a:t>
            </a:r>
            <a:r>
              <a:rPr lang="pt-PT"/>
              <a:t> e apresentar as 5 primeiras linhas.</a:t>
            </a:r>
            <a:endParaRPr/>
          </a:p>
        </p:txBody>
      </p:sp>
      <p:pic>
        <p:nvPicPr>
          <p:cNvPr id="1140834041" name="Imagem 194019486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060881" y="2786470"/>
            <a:ext cx="8096249" cy="37242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188608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1917863702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Agora iremos remover o ano da coluna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title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usando a função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replace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pandas e armazená-lo em uma nova coluna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year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 lang="pt-PT"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algn="just"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Começamos com o método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movies_df.title.str.extract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() 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que usa uma expressão regular para extrair uma parte específica dos valores da coluna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title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expressão regular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r'(\(\d{4}\))'</a:t>
            </a:r>
            <a:r>
              <a:rPr lang="pt-PT"/>
              <a:t>.</a:t>
            </a:r>
            <a:endParaRPr/>
          </a:p>
          <a:p>
            <a:pPr algn="just"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Após extrair o ano com os parênteses, usamos outra expressão regular para remover os parênteses e manter apenas os 4 dígitos do ano</a:t>
            </a:r>
            <a:r>
              <a:rPr lang="pt-PT"/>
              <a:t>.</a:t>
            </a:r>
            <a:endParaRPr/>
          </a:p>
          <a:p>
            <a:pPr algn="just"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Removemos o ano, os parênteses do título original e os espaços extras no início ou no final do título.</a:t>
            </a:r>
            <a:endParaRPr/>
          </a:p>
          <a:p>
            <a:pPr algn="just"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 por fim exibimos as primeiras linhas do ficheiro CSV.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534906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pic>
        <p:nvPicPr>
          <p:cNvPr id="1035035450" name="Imagem 196687571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57719" y="1520460"/>
            <a:ext cx="11076562" cy="50967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003343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1054406624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 isso, iremos vamos também dividir os valores da coluna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Genres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em uma lista de gêneros para simplificar. Isso pode ser feito aplicando a função de divisão de 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string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split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 lang="pt-PT"/>
          </a:p>
        </p:txBody>
      </p:sp>
      <p:pic>
        <p:nvPicPr>
          <p:cNvPr id="1497612599" name="Imagem 205219545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64435" y="2968831"/>
            <a:ext cx="9289142" cy="35467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6553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1574009460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lnSpc>
                <a:spcPct val="100000"/>
              </a:lnSpc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Agora usaremos a técnica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One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Hot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Encoding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para converter a lista de géneros em um vetor onde cada coluna corresponde a um valor possível da característica.</a:t>
            </a:r>
            <a:endParaRPr/>
          </a:p>
          <a:p>
            <a:pPr algn="just">
              <a:lnSpc>
                <a:spcPct val="100000"/>
              </a:lnSpc>
              <a:defRPr/>
            </a:pPr>
            <a:endParaRPr lang="pt-PT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just">
              <a:lnSpc>
                <a:spcPct val="100000"/>
              </a:lnSpc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Essa codificação é necessária para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feeding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os dados categóricos. Nesse caso, armazenamos cada género diferente em colunas que contêm 1 ou 0.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465845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pic>
        <p:nvPicPr>
          <p:cNvPr id="1884000347" name="Marcador de Posição de Conteúdo 497285323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575684" y="1363099"/>
            <a:ext cx="11040631" cy="54777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617644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499526536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pt-PT"/>
              <a:t>Agora iremos observar o </a:t>
            </a:r>
            <a:r>
              <a:rPr lang="pt-PT" b="1"/>
              <a:t>ratings.csv</a:t>
            </a:r>
            <a:r>
              <a:rPr lang="pt-PT"/>
              <a:t>.</a:t>
            </a:r>
            <a:endParaRPr/>
          </a:p>
          <a:p>
            <a:pPr algn="just"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Podemos ver que tem um ID de usuário associado a pelo menos um filme, uma classificação e um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timestamp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mostrando quando ele foi avaliado. Não precisaremos da coluna de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timestamp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então vamos removê-la para libertar  memória.</a:t>
            </a:r>
            <a:endParaRPr lang="pt-PT"/>
          </a:p>
        </p:txBody>
      </p:sp>
      <p:pic>
        <p:nvPicPr>
          <p:cNvPr id="1820562677" name="Imagem 202447419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33701" y="3683700"/>
            <a:ext cx="4268961" cy="31077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031936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397821656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pt-PT"/>
              <a:t>Para isso basta usar o método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ratings_df.drop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('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timestamp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', 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axis</a:t>
            </a:r>
            <a:r>
              <a:rPr lang="pt-PT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=1), </a:t>
            </a:r>
            <a:r>
              <a:rPr lang="pt-PT" b="0"/>
              <a:t>que remove uma coluna ou linha especifica.</a:t>
            </a:r>
            <a:endParaRPr/>
          </a:p>
        </p:txBody>
      </p:sp>
      <p:pic>
        <p:nvPicPr>
          <p:cNvPr id="1222680088" name="Imagem 102650206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86454" y="3104902"/>
            <a:ext cx="6845103" cy="3535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330281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101737523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Por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iremos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implementar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Recommendation Systems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Content-Based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ou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Item-Item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 Essa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técnica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tenta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descobrir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quais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são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aspectos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favoritos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de um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utilizadores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um item e,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seguida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recomenda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itens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que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apresentam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esses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aspectos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  <a:p>
            <a:pPr algn="just"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nosso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caso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tentar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identificar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gêneros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favoritos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utilizador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partir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dos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filmes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 das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classificações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fornecidas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097157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1463776632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/>
              <a:t>Começamos</a:t>
            </a:r>
            <a:r>
              <a:rPr/>
              <a:t> por </a:t>
            </a:r>
            <a:r>
              <a:rPr/>
              <a:t>adicionar</a:t>
            </a:r>
            <a:r>
              <a:rPr/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uma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entrada para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recomendar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filmes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pic>
        <p:nvPicPr>
          <p:cNvPr id="1014626702" name="Imagem 75996230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41981" y="2362694"/>
            <a:ext cx="5734049" cy="43529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945615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1091611841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/>
              <a:t>De </a:t>
            </a:r>
            <a:r>
              <a:rPr/>
              <a:t>seguida</a:t>
            </a:r>
            <a:r>
              <a:rPr/>
              <a:t> </a:t>
            </a:r>
            <a:r>
              <a:rPr/>
              <a:t>começamos</a:t>
            </a:r>
            <a:r>
              <a:rPr/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aprender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sobre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as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preferências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utilizador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então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obter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subconjunto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filmes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que 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usuário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assistiu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Dataset que 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contém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gêneros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definidos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com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valores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binários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pic>
        <p:nvPicPr>
          <p:cNvPr id="481127043" name="Imagem 105098265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86249" y="3958440"/>
            <a:ext cx="10619499" cy="7305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744356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pic>
        <p:nvPicPr>
          <p:cNvPr id="1039239514" name="Marcador de Posição de Conteúdo 219285927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70708" y="2026722"/>
            <a:ext cx="12001429" cy="41974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825423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135357673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Só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precisar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apenas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tabela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gêneros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então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limpar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um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pouco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isso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redefinindo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índice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removendo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as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colunas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movieId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title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genres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year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pic>
        <p:nvPicPr>
          <p:cNvPr id="1643261867" name="Imagem 46419628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6769" y="3247998"/>
            <a:ext cx="12019112" cy="32463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377246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1729574718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Para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começarmos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aprender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vamos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transformar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cada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gênero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pesos. Podemos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fazer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isso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usando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o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input rating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utilizador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multiplicando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-as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tabela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gêneros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utilizador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depois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somando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tabela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resultante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por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coluna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 </a:t>
            </a:r>
            <a:endParaRPr/>
          </a:p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Essa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operação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é um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produto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escalar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entre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uma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matriz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 um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vetor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podemos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simplesmente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realizar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isso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chamando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função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dot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Pandas.</a:t>
            </a:r>
            <a:endParaRPr/>
          </a:p>
        </p:txBody>
      </p:sp>
      <p:pic>
        <p:nvPicPr>
          <p:cNvPr id="1109045484" name="Imagem 84567911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017089" y="4095516"/>
            <a:ext cx="3573883" cy="26491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994107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pic>
        <p:nvPicPr>
          <p:cNvPr id="1059034473" name="Marcador de Posição de Conteúdo 180158612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3044428" y="1491448"/>
            <a:ext cx="6129155" cy="52999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517807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121427777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Agora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quem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posuimos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pesos para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cada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uma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das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preferências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utilizador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ficamos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com o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Perfil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Utilizador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 Com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isso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podemos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recomendar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filmes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que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atendam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às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preferências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utilizador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Começamos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por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extrair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tabela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gêneros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Dataset original.</a:t>
            </a:r>
            <a:endParaRPr/>
          </a:p>
        </p:txBody>
      </p:sp>
      <p:pic>
        <p:nvPicPr>
          <p:cNvPr id="141384423" name="Imagem 38464429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1604" y="3281328"/>
            <a:ext cx="12094804" cy="35100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518090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805466424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/>
              <a:t>Confirmamos</a:t>
            </a:r>
            <a:r>
              <a:rPr/>
              <a:t> com o </a:t>
            </a:r>
            <a:r>
              <a:rPr/>
              <a:t>comando</a:t>
            </a:r>
            <a:r>
              <a:rPr/>
              <a:t> </a:t>
            </a:r>
            <a:r>
              <a:rPr b="1"/>
              <a:t>genreTable.shape</a:t>
            </a:r>
            <a:r>
              <a:rPr b="1"/>
              <a:t> </a:t>
            </a:r>
            <a:r>
              <a:rPr b="0"/>
              <a:t>que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retorna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as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dimensões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Dataset. </a:t>
            </a:r>
            <a:endParaRPr/>
          </a:p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primeira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parte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representa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quantas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linhas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existem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 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segunda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quantas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colunas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 b="0"/>
          </a:p>
        </p:txBody>
      </p:sp>
      <p:pic>
        <p:nvPicPr>
          <p:cNvPr id="886715725" name="Imagem 12646860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25420" y="4082142"/>
            <a:ext cx="3670288" cy="17052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858929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1823275847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 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Perfil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Utilizador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 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lista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completa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filmes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 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gêneros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podemos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calcular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média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ponderada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cada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filme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com base no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perfil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utilizador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recomendar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20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melhores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filmes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que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mais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atendem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esse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perfil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pic>
        <p:nvPicPr>
          <p:cNvPr id="1607560531" name="Imagem 60861668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22206" y="3320287"/>
            <a:ext cx="9773600" cy="30675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885899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sp>
        <p:nvSpPr>
          <p:cNvPr id="1211598579" name="Content Placeholder 2"/>
          <p:cNvSpPr>
            <a:spLocks noGrp="1"/>
          </p:cNvSpPr>
          <p:nvPr>
            <p:ph idx="1"/>
          </p:nvPr>
        </p:nvSpPr>
        <p:spPr bwMode="auto">
          <a:xfrm>
            <a:off x="392721" y="1491448"/>
            <a:ext cx="11432568" cy="5299966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just">
              <a:defRPr/>
            </a:pPr>
            <a:r>
              <a:rPr lang="pt-PT"/>
              <a:t>Realizamos uma ordenação decrescente dos valores sendo que o mais alto é o que será o melhor recomendado.</a:t>
            </a:r>
            <a:endParaRPr/>
          </a:p>
        </p:txBody>
      </p:sp>
      <p:pic>
        <p:nvPicPr>
          <p:cNvPr id="163350942" name="Imagem 30888036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68029" y="2968831"/>
            <a:ext cx="8157020" cy="3074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339044" name="Title 1"/>
          <p:cNvSpPr>
            <a:spLocks noGrp="1"/>
          </p:cNvSpPr>
          <p:nvPr>
            <p:ph type="title"/>
          </p:nvPr>
        </p:nvSpPr>
        <p:spPr bwMode="auto">
          <a:xfrm>
            <a:off x="1837677" y="240832"/>
            <a:ext cx="9987612" cy="108985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pPr algn="ctr">
              <a:defRPr/>
            </a:pPr>
            <a:r>
              <a:rPr lang="en-GB" sz="3600" b="1" i="0" u="none" strike="noStrike" cap="none" spc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Lab: Recommender Systems</a:t>
            </a:r>
            <a:endParaRPr/>
          </a:p>
        </p:txBody>
      </p:sp>
      <p:pic>
        <p:nvPicPr>
          <p:cNvPr id="2070607393" name="Marcador de Posição de Conteúdo 360972449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1156006" y="1693507"/>
            <a:ext cx="9905999" cy="4895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1856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Índice</a:t>
            </a:r>
            <a:endParaRPr lang="en-GB"/>
          </a:p>
        </p:txBody>
      </p:sp>
      <p:sp>
        <p:nvSpPr>
          <p:cNvPr id="1408231905" name="Content Placeholder 2"/>
          <p:cNvSpPr>
            <a:spLocks noGrp="1"/>
          </p:cNvSpPr>
          <p:nvPr>
            <p:ph idx="1"/>
          </p:nvPr>
        </p:nvSpPr>
        <p:spPr bwMode="auto">
          <a:xfrm>
            <a:off x="392722" y="1491449"/>
            <a:ext cx="11432569" cy="4998128"/>
          </a:xfrm>
        </p:spPr>
        <p:txBody>
          <a:bodyPr/>
          <a:lstStyle/>
          <a:p>
            <a:pPr>
              <a:defRPr/>
            </a:pPr>
            <a:r>
              <a:rPr lang="pt-BR"/>
              <a:t>K-Means</a:t>
            </a:r>
            <a:endParaRPr/>
          </a:p>
          <a:p>
            <a:pPr>
              <a:defRPr/>
            </a:pPr>
            <a:r>
              <a:rPr lang="pt-BR"/>
              <a:t>Lab: Support Vector Machines</a:t>
            </a:r>
            <a:endParaRPr/>
          </a:p>
          <a:p>
            <a:pPr>
              <a:defRPr/>
            </a:pPr>
            <a:r>
              <a:rPr lang="pt-BR"/>
              <a:t>Lab: Recommender Systems</a:t>
            </a:r>
            <a:endParaRPr/>
          </a:p>
          <a:p>
            <a:pPr>
              <a:defRPr/>
            </a:pPr>
            <a:r>
              <a:rPr lang="pt-BR"/>
              <a:t>Bibliografia</a:t>
            </a:r>
            <a:endParaRPr/>
          </a:p>
        </p:txBody>
      </p:sp>
      <p:sp>
        <p:nvSpPr>
          <p:cNvPr id="1160037989" name="Retângulo: Cantos Arredondados 5"/>
          <p:cNvSpPr/>
          <p:nvPr/>
        </p:nvSpPr>
        <p:spPr bwMode="auto">
          <a:xfrm>
            <a:off x="366710" y="2922563"/>
            <a:ext cx="2235814" cy="506437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P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1711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GB"/>
              <a:t>Bibliografia</a:t>
            </a:r>
            <a:endParaRPr lang="en-GB"/>
          </a:p>
        </p:txBody>
      </p:sp>
      <p:sp>
        <p:nvSpPr>
          <p:cNvPr id="1551700153" name="Content Placeholder 2"/>
          <p:cNvSpPr>
            <a:spLocks noGrp="1"/>
          </p:cNvSpPr>
          <p:nvPr>
            <p:ph idx="1"/>
          </p:nvPr>
        </p:nvSpPr>
        <p:spPr bwMode="auto">
          <a:xfrm>
            <a:off x="392722" y="1491449"/>
            <a:ext cx="11432569" cy="5125717"/>
          </a:xfr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47</Slides>
  <Notes>47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Veloso</dc:creator>
  <cp:lastModifiedBy/>
  <cp:revision>164</cp:revision>
  <dcterms:created xsi:type="dcterms:W3CDTF">2020-09-16T15:10:41Z</dcterms:created>
  <dcterms:modified xsi:type="dcterms:W3CDTF">2025-10-21T20:02:46Z</dcterms:modified>
</cp:coreProperties>
</file>